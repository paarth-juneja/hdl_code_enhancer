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3b07f7b2242f5" /><Relationship Type="http://schemas.openxmlformats.org/officeDocument/2006/relationships/extended-properties" Target="/docProps/app.xml" Id="R1d03e7df4b5a44af" /><Relationship Type="http://schemas.openxmlformats.org/officeDocument/2006/relationships/officeDocument" Target="/ppt/presentation.xml" Id="R3b0521a13ab548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d040ab3a24456"/>
  </p:sldMasterIdLst>
  <p:notesMasterIdLst>
    <p:notesMasterId xmlns:r="http://schemas.openxmlformats.org/officeDocument/2006/relationships" r:id="R25758d7fd76f4456"/>
  </p:notesMasterIdLst>
  <p:sldIdLst>
    <p:sldId xmlns:r="http://schemas.openxmlformats.org/officeDocument/2006/relationships" id="256" r:id="Rab6a18c77b294a45"/>
    <p:sldId xmlns:r="http://schemas.openxmlformats.org/officeDocument/2006/relationships" id="257" r:id="Rf2b4964696f74139"/>
    <p:sldId xmlns:r="http://schemas.openxmlformats.org/officeDocument/2006/relationships" id="258" r:id="Rb01b7397c6484c2a"/>
    <p:sldId xmlns:r="http://schemas.openxmlformats.org/officeDocument/2006/relationships" id="259" r:id="Ra4f0edebda624981"/>
    <p:sldId xmlns:r="http://schemas.openxmlformats.org/officeDocument/2006/relationships" id="260" r:id="R1dbf7270dd564742"/>
    <p:sldId xmlns:r="http://schemas.openxmlformats.org/officeDocument/2006/relationships" id="261" r:id="R192eee8db8c44e74"/>
    <p:sldId xmlns:r="http://schemas.openxmlformats.org/officeDocument/2006/relationships" id="262" r:id="R04c8250184224dcc"/>
    <p:sldId xmlns:r="http://schemas.openxmlformats.org/officeDocument/2006/relationships" id="263" r:id="R0691869c1d854dd4"/>
    <p:sldId xmlns:r="http://schemas.openxmlformats.org/officeDocument/2006/relationships" id="264" r:id="R3a772bd51bad4d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c7a2cea8574694" /><Relationship Type="http://schemas.openxmlformats.org/officeDocument/2006/relationships/slideMaster" Target="/ppt/slideMasters/slideMaster1.xml" Id="R376d040ab3a24456" /><Relationship Type="http://schemas.openxmlformats.org/officeDocument/2006/relationships/notesMaster" Target="/ppt/notesMasters/notesMaster1.xml" Id="R25758d7fd76f4456" /><Relationship Type="http://schemas.openxmlformats.org/officeDocument/2006/relationships/presProps" Target="/ppt/presProps.xml" Id="R6be8c31ca1404843" /><Relationship Type="http://schemas.openxmlformats.org/officeDocument/2006/relationships/tableStyles" Target="/ppt/tableStyles.xml" Id="Rb8f022b8cb3e43df" /><Relationship Type="http://schemas.openxmlformats.org/officeDocument/2006/relationships/slide" Target="/ppt/slides/slide1.xml" Id="Rab6a18c77b294a45" /><Relationship Type="http://schemas.openxmlformats.org/officeDocument/2006/relationships/slide" Target="/ppt/slides/slide2.xml" Id="Rf2b4964696f74139" /><Relationship Type="http://schemas.openxmlformats.org/officeDocument/2006/relationships/slide" Target="/ppt/slides/slide3.xml" Id="Rb01b7397c6484c2a" /><Relationship Type="http://schemas.openxmlformats.org/officeDocument/2006/relationships/slide" Target="/ppt/slides/slide4.xml" Id="Ra4f0edebda624981" /><Relationship Type="http://schemas.openxmlformats.org/officeDocument/2006/relationships/slide" Target="/ppt/slides/slide5.xml" Id="R1dbf7270dd564742" /><Relationship Type="http://schemas.openxmlformats.org/officeDocument/2006/relationships/slide" Target="/ppt/slides/slide6.xml" Id="R192eee8db8c44e74" /><Relationship Type="http://schemas.openxmlformats.org/officeDocument/2006/relationships/slide" Target="/ppt/slides/slide7.xml" Id="R04c8250184224dcc" /><Relationship Type="http://schemas.openxmlformats.org/officeDocument/2006/relationships/slide" Target="/ppt/slides/slide8.xml" Id="R0691869c1d854dd4" /><Relationship Type="http://schemas.openxmlformats.org/officeDocument/2006/relationships/slide" Target="/ppt/slides/slide9.xml" Id="R3a772bd51bad4d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1c0a0902ea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3e60d130c4f50" /><Relationship Type="http://schemas.openxmlformats.org/officeDocument/2006/relationships/notesMaster" Target="/ppt/notesMasters/notesMaster1.xml" Id="R5333f5c95779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547924f454382" /><Relationship Type="http://schemas.openxmlformats.org/officeDocument/2006/relationships/notesMaster" Target="/ppt/notesMasters/notesMaster1.xml" Id="R0c33e2b821634c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6c50adfdc8461a" /><Relationship Type="http://schemas.openxmlformats.org/officeDocument/2006/relationships/notesMaster" Target="/ppt/notesMasters/notesMaster1.xml" Id="R960d062eba79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1d4217e8e4233" /><Relationship Type="http://schemas.openxmlformats.org/officeDocument/2006/relationships/notesMaster" Target="/ppt/notesMasters/notesMaster1.xml" Id="R0d8c7540a66e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8733716a6f4cce" /><Relationship Type="http://schemas.openxmlformats.org/officeDocument/2006/relationships/notesMaster" Target="/ppt/notesMasters/notesMaster1.xml" Id="Rec3f150427bb43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c56fd4425143ab" /><Relationship Type="http://schemas.openxmlformats.org/officeDocument/2006/relationships/notesMaster" Target="/ppt/notesMasters/notesMaster1.xml" Id="Rcbc12f51fc4e40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9af7bfc5f450e" /><Relationship Type="http://schemas.openxmlformats.org/officeDocument/2006/relationships/notesMaster" Target="/ppt/notesMasters/notesMaster1.xml" Id="R528103ed790a41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ca3f8a2db24e4a" /><Relationship Type="http://schemas.openxmlformats.org/officeDocument/2006/relationships/notesMaster" Target="/ppt/notesMasters/notesMaster1.xml" Id="Re174486a0f1546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1a1b209d114613" /><Relationship Type="http://schemas.openxmlformats.org/officeDocument/2006/relationships/notesMaster" Target="/ppt/notesMasters/notesMaster1.xml" Id="Rd9bf94ff94f745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packaged candidate worst-path image from OpenROAD-flow-scripts run 20260913T164418Z_optimize. Introduce Nebula as a verification-gated RTL optimizer.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orchestrator policy, state machine and pipeline implementation at commit 040eb0d.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benchmarks/ethmac5 README, frozen SDC, baseline metadata.json, and synthesis statistics packaged under 03_RTL_AND_CONSTRAINTS and 04_PROOFS.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orchestrator pipeline.py, policy.py, statemachine.py, patcher.py, parsers, adapters, and schemas at commit 040eb0d.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accepted.patch, original and optimized nebula_aux_domain.v, model recommendations, and loop_report.json in the submission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04_PROOFS/formal/eqy_full_log.txt, equiv.eqy, PASS marker, and verification_result.json. The final log line records DONE (PASS, rc=0). Runtime is 140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04_PROOFS/comparison/ppa_comparison.json and baseline/candidate OpenROAD metadata.json. Relative timing improvement uses absolute slack improvement divided by baseline slack magnitude. Power is vectorless.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packaged baseline and candidate final_routing.webp images and metadata.json from OpenROAD-flow-scripts. Images show actual final routed databases, not conceptual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 timing metadata and limitations documented in the technical report. Do not claim timing closure or activity-annotated signoff power during Q&amp;A.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f35b1e811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40dd18cd647dd" /><Relationship Type="http://schemas.openxmlformats.org/officeDocument/2006/relationships/slideLayout" Target="/ppt/slideLayouts/slideLayout1.xml" Id="R8b806f52355145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06f52355145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2d002cace4ac3" /><Relationship Type="http://schemas.openxmlformats.org/officeDocument/2006/relationships/image" Target="/ppt/media/image.png" Id="R798c27710eb64409" /><Relationship Type="http://schemas.openxmlformats.org/officeDocument/2006/relationships/notesSlide" Target="/ppt/notesSlides/notesSlide1.xml" Id="Rc4f65b67deb1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3072343194742" /><Relationship Type="http://schemas.openxmlformats.org/officeDocument/2006/relationships/notesSlide" Target="/ppt/notesSlides/notesSlide2.xml" Id="R6b61ae61cff545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30844780a4df5" /><Relationship Type="http://schemas.openxmlformats.org/officeDocument/2006/relationships/notesSlide" Target="/ppt/notesSlides/notesSlide3.xml" Id="R5057f1f022ca47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87ef32c274ea9" /><Relationship Type="http://schemas.openxmlformats.org/officeDocument/2006/relationships/notesSlide" Target="/ppt/notesSlides/notesSlide4.xml" Id="R3097b9e964fb46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7d119e53f4593" /><Relationship Type="http://schemas.openxmlformats.org/officeDocument/2006/relationships/notesSlide" Target="/ppt/notesSlides/notesSlide5.xml" Id="Ra05015abbdd54d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7b894cb994cb2" /><Relationship Type="http://schemas.openxmlformats.org/officeDocument/2006/relationships/notesSlide" Target="/ppt/notesSlides/notesSlide6.xml" Id="R0d9bef45faee46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a7ba8e69d4b0e" /><Relationship Type="http://schemas.openxmlformats.org/officeDocument/2006/relationships/chart" Target="/ppt/slides/charts/chart1.xml" Id="R44687ee76b6b45af" /><Relationship Type="http://schemas.openxmlformats.org/officeDocument/2006/relationships/notesSlide" Target="/ppt/notesSlides/notesSlide7.xml" Id="Red4d637913bb4e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7d28e050843e2" /><Relationship Type="http://schemas.openxmlformats.org/officeDocument/2006/relationships/image" Target="/ppt/media/image2.png" Id="Raa9ec01caf184e94" /><Relationship Type="http://schemas.openxmlformats.org/officeDocument/2006/relationships/image" Target="/ppt/media/image3.png" Id="R2a2d62c4963a4f46" /><Relationship Type="http://schemas.openxmlformats.org/officeDocument/2006/relationships/notesSlide" Target="/ppt/notesSlides/notesSlide8.xml" Id="R13907d2265b24c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b42a076ac4404" /><Relationship Type="http://schemas.openxmlformats.org/officeDocument/2006/relationships/notesSlide" Target="/ppt/notesSlides/notesSlide9.xml" Id="R96880ad8f2654e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Relative improvement</c:v>
          </c:tx>
          <c:spPr>
            <a:solidFill xmlns:a="http://schemas.openxmlformats.org/drawingml/2006/main">
              <a:srgbClr val="176B9A"/>
            </a:solidFill>
          </c:spPr>
          <c:cat>
            <c:strRef>
              <c:f>'Chart Data'!$A$2:$A$6</c:f>
              <c:strCache>
                <c:ptCount val="5"/>
                <c:pt idx="0">
                  <c:v>Setup WNS</c:v>
                </c:pt>
                <c:pt idx="1">
                  <c:v>Setup TNS</c:v>
                </c:pt>
                <c:pt idx="2">
                  <c:v>Power</c:v>
                </c:pt>
                <c:pt idx="3">
                  <c:v>Cell count</c:v>
                </c:pt>
                <c:pt idx="4">
                  <c:v>Cell area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22.019</c:v>
                </c:pt>
                <c:pt idx="1">
                  <c:v>15.79</c:v>
                </c:pt>
                <c:pt idx="2">
                  <c:v>0.88</c:v>
                </c:pt>
                <c:pt idx="3">
                  <c:v>0.174</c:v>
                </c:pt>
                <c:pt idx="4">
                  <c:v>0.102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1E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2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68855-1DCB-49B7-A109-AA21CD95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NEBULA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5BA47-C94B-4BD3-8DE5-4D7BF295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CF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7ECF4"/>
                </a:solidFill>
                <a:latin typeface="Noto Sans"/>
                <a:ea typeface="Noto Sans"/>
                <a:cs typeface="Noto Sans"/>
              </a:rPr>
              <a:t>Constraint optimization through RTL enhancement using Generative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4365B-A031-4077-90E2-388D29B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21F44-1526-482C-8809-52FF01F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+0.094790 ns routed 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CD48-0B84-4A57-B6FC-AEC65AE0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CE7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BDCE7"/>
                </a:solidFill>
                <a:latin typeface="Noto Sans"/>
                <a:ea typeface="Noto Sans"/>
                <a:cs typeface="Noto Sans"/>
              </a:rPr>
              <a:t>Whole-design EQY PASS  |  57,608-cell baseline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c27710eb64409"/>
          <a:srcRect xmlns:a="http://schemas.openxmlformats.org/drawingml/2006/main" l="20139" t="0" r="20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0665-29BC-4D38-9725-A930752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3D4E-1FBC-4AAF-9BA9-A9FCC73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C9D8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9EC9D8"/>
                </a:solidFill>
                <a:latin typeface="Noto Sans"/>
                <a:ea typeface="Noto Sans"/>
                <a:cs typeface="Noto Sans"/>
              </a:rPr>
              <a:t>FINAL PRESENTATION  |  14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47951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E3A36-8604-4710-9933-40A4A54B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22F8E-7404-4360-B70D-6999FA8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AI proposals need deterministic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0B867-0C93-4388-8D96-88C7FE17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453E6-8006-4866-95BB-DD0D7F93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A plausible RTL rewrite can silently change reset behavior, latency, CDC semantics, or physical QoR.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387B5-25A1-494A-A1BA-0E462F3E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9525">
            <a:solidFill>
              <a:srgbClr val="20B8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2BEFF-2FA6-4EEE-84B4-975F7A9D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Model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1FD8F-EAB8-4728-BF7C-E4E82B09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717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Generate a bounded, structured RTL patch around a mapped critical module.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64EC0-94B6-4A73-A360-1EFEBFA0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9A"/>
          </a:solidFill>
          <a:ln xmlns:a="http://schemas.openxmlformats.org/drawingml/2006/main" w="9525">
            <a:solidFill>
              <a:srgbClr val="176B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A606B-3290-4692-88D8-5E85FF5E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Tool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F14B3-0DD9-4087-A9E6-78D52C65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289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Reject out-of-scope edits, synthesis failures, timing regressions, and unproven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FE97E-DD1A-433A-9F07-085D12A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A490D-B31F-4F95-BACF-078B4AE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96C21-63E6-4BDB-B7E8-8258EB2B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862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Require cycle-exact whole-design proof and a matched post-route improvement.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47A00-FB4C-483A-84F2-D6F58FD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B9A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176B9A"/>
                </a:solidFill>
                <a:latin typeface="Noto Sans"/>
                <a:ea typeface="Noto Sans"/>
                <a:cs typeface="Noto Sans"/>
              </a:rPr>
              <a:t>The model proposes. Measurements decide.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2FC53-7F5C-47D4-AA0F-5F82D6A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50DEA-3C1A-4561-BA3E-8FE9809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2434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8305B-963D-44CD-98A0-A679C80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BENCHMARK QUALIFICATION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2C44-F67D-4815-BE3A-7379C188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Five asynchronous domains at the requested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B2248-CCF6-490C-9DD1-E3031F5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333875"/>
              </a:tblGrid>
              <a:tr h="635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Requirement</a:t>
                      </a:r>
                    </a:p>
                  </a:txBody>
                  <a:tcPr marL="114300" marR="114300" marT="76200" marB="76200">
                    <a:solidFill>
                      <a:srgbClr val="08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Measured evidence</a:t>
                      </a:r>
                    </a:p>
                  </a:txBody>
                  <a:tcPr marL="114300" marR="114300" marT="76200" marB="76200">
                    <a:solidFill>
                      <a:srgbClr val="081E3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1E33"/>
                          </a:solidFill>
                          <a:latin typeface="Noto Sans"/>
                          <a:ea typeface="Noto Sans"/>
                          <a:cs typeface="Noto Sans"/>
                        </a:rPr>
                        <a:t>Master clocks</a:t>
                      </a:r>
                    </a:p>
                  </a:txBody>
                  <a:tcPr marL="114300" marR="114300" marT="57150" marB="57150">
                    <a:solidFill>
                      <a:srgbClr val="E9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35"/>
                          </a:solidFill>
                          <a:latin typeface="Noto Sans"/>
                          <a:ea typeface="Noto Sans"/>
                          <a:cs typeface="Noto Sans"/>
                        </a:rPr>
                        <a:t>WB, TX, RX, AUX0, AUX1</a:t>
                      </a:r>
                    </a:p>
                  </a:txBody>
                  <a:tcPr marL="114300" marR="114300" marT="57150" marB="5715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1E33"/>
                          </a:solidFill>
                          <a:latin typeface="Noto Sans"/>
                          <a:ea typeface="Noto Sans"/>
                          <a:cs typeface="Noto Sans"/>
                        </a:rPr>
                        <a:t>Generated clocks</a:t>
                      </a:r>
                    </a:p>
                  </a:txBody>
                  <a:tcPr marL="114300" marR="114300" marT="57150" marB="57150">
                    <a:solidFill>
                      <a:srgbClr val="E9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35"/>
                          </a:solidFill>
                          <a:latin typeface="Noto Sans"/>
                          <a:ea typeface="Noto Sans"/>
                          <a:cs typeface="Noto Sans"/>
                        </a:rPr>
                        <a:t>Five divide-by-two generated clocks</a:t>
                      </a:r>
                    </a:p>
                  </a:txBody>
                  <a:tcPr marL="114300" marR="114300" marT="57150" marB="5715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1E33"/>
                          </a:solidFill>
                          <a:latin typeface="Noto Sans"/>
                          <a:ea typeface="Noto Sans"/>
                          <a:cs typeface="Noto Sans"/>
                        </a:rPr>
                        <a:t>CDC</a:t>
                      </a:r>
                    </a:p>
                  </a:txBody>
                  <a:tcPr marL="114300" marR="114300" marT="57150" marB="57150">
                    <a:solidFill>
                      <a:srgbClr val="E9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35"/>
                          </a:solidFill>
                          <a:latin typeface="Noto Sans"/>
                          <a:ea typeface="Noto Sans"/>
                          <a:cs typeface="Noto Sans"/>
                        </a:rPr>
                        <a:t>Protected two-flop toggle synchronizers</a:t>
                      </a:r>
                    </a:p>
                  </a:txBody>
                  <a:tcPr marL="114300" marR="114300" marT="57150" marB="5715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1E33"/>
                          </a:solidFill>
                          <a:latin typeface="Noto Sans"/>
                          <a:ea typeface="Noto Sans"/>
                          <a:cs typeface="Noto Sans"/>
                        </a:rPr>
                        <a:t>Clock division</a:t>
                      </a:r>
                    </a:p>
                  </a:txBody>
                  <a:tcPr marL="114300" marR="114300" marT="57150" marB="57150">
                    <a:solidFill>
                      <a:srgbClr val="E9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35"/>
                          </a:solidFill>
                          <a:latin typeface="Noto Sans"/>
                          <a:ea typeface="Noto Sans"/>
                          <a:cs typeface="Noto Sans"/>
                        </a:rPr>
                        <a:t>Fixed divide-by-two plus programmable MDC</a:t>
                      </a:r>
                    </a:p>
                  </a:txBody>
                  <a:tcPr marL="114300" marR="114300" marT="57150" marB="5715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1E33"/>
                          </a:solidFill>
                          <a:latin typeface="Noto Sans"/>
                          <a:ea typeface="Noto Sans"/>
                          <a:cs typeface="Noto Sans"/>
                        </a:rPr>
                        <a:t>Design scale</a:t>
                      </a:r>
                    </a:p>
                  </a:txBody>
                  <a:tcPr marL="114300" marR="114300" marT="57150" marB="57150">
                    <a:solidFill>
                      <a:srgbClr val="E9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35"/>
                          </a:solidFill>
                          <a:latin typeface="Noto Sans"/>
                          <a:ea typeface="Noto Sans"/>
                          <a:cs typeface="Noto Sans"/>
                        </a:rPr>
                        <a:t>51,359 synthesis cells; 57,608 routed stdcells</a:t>
                      </a:r>
                    </a:p>
                  </a:txBody>
                  <a:tcPr marL="114300" marR="114300" marT="57150" marB="5715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E8350-B088-454A-BE14-1250B464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335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26EC-94AA-4C78-B6B9-3DF7C99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52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final route DRC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72433-9581-4284-9D52-5DB87FB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335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A2F14-2725-4A39-BB84-C46245E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52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antenna violations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42684-8620-4B85-A16C-E98439AE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76B9A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76B9A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7217D-8A16-4098-A89A-5EDFC07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declared clock names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010FC-21F0-4849-AD60-D482D7A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86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76B9A"/>
                </a:solidFill>
                <a:latin typeface="Noto Sans"/>
                <a:ea typeface="Noto Sans"/>
                <a:cs typeface="Noto Sans"/>
              </a:defRPr>
            </a:pPr>
            <a:r>
              <a:rPr sz="2925" b="1">
                <a:solidFill>
                  <a:srgbClr val="176B9A"/>
                </a:solidFill>
                <a:latin typeface="Noto Sans"/>
                <a:ea typeface="Noto Sans"/>
                <a:cs typeface="Noto Sans"/>
              </a:rPr>
              <a:t>57,608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76FE6-93A1-4888-AB49-921F6668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routed standard cells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9170E-81C7-4589-800E-B58F9F8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Locally constructed wrapper around unchanged OpenCores Ethernet MAC RTL.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328C6-C4DE-4409-AA4D-D9CDFC5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9C1ED-2904-4FB1-9C88-01905CA4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7257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5F3F5-8173-4E37-8379-5E4C31AF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99CF1-ADDF-4828-A2F8-D2219A5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Verification-gated optimization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18C12-307F-4C73-A51E-A0357018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E563D-8BA6-411B-8557-6DA5BB44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459B5-8EC9-4D9E-900C-5F5DA8E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Analyze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8AC1E-01EF-4B08-A840-67E325DE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763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Yosys + OpenSTA parse timing and map critical endpoints to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C4879-965C-4E1F-A984-C4CB1F8F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087B2-D406-4702-9F1D-EBAC66E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6F220-4A06-4FBA-BB39-9DE89294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526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Propose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55B78-29A5-4C7E-9FC4-A07C6252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526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The model returns a structured patch within editable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67B99-3352-42BD-AEA5-48DC9604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23047-E7C0-4E05-8CE3-E3D06F42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3135D-3F82-4E6C-B5DD-CBF30F94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28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Screen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705D-DD4F-44C7-8A27-BA8EB690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289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Full-design synthesis and STA reject invalid or worse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F501A-A54D-4242-A426-9760FEC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88D8F-C3C0-4002-9746-7FD9C68A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3980D-73BE-413B-93E5-895F72A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052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8CB2A-9075-4025-A0FE-0F468DF2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052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EQY checks cycle-exact equivalence across the complete hierarchy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E79ED-F291-40E1-8D45-DF392417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36CEF-8096-4B18-B45A-2183AEC2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99664-0773-42FB-B878-59E183A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15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Measure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5DF91-5EC5-49B4-A52A-3F855F0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Matched OpenROAD runs decide timing and PPA acceptance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6071C-2CFF-4CD0-81E1-AA48DDB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0FA21-708E-43BD-9C16-DAF2DB7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7791E-0069-4133-8FF8-887803DB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169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7DE12-36A1-47BE-A220-507F339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ACCEPTED AI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00FB1-2E37-42A2-A60E-76B5B91D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A balanced XOR tree shortens logic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A2A5-98DC-4198-AC7A-D96D3467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EBEDA-B642-4D0B-8DD5-E7104E2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4B51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BC4B51"/>
                </a:solidFill>
                <a:latin typeface="Noto Sans"/>
                <a:ea typeface="Noto Sans"/>
                <a:cs typeface="Noto Sans"/>
              </a:rPr>
              <a:t>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7B6D6-1765-4D4C-BFE6-52B0023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8101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9F4F7"/>
          </a:solidFill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62635"/>
                </a:solidFill>
                <a:latin typeface="DejaVu Sans Mono"/>
                <a:ea typeface="DejaVu Sans Mono"/>
                <a:cs typeface="DejaVu Sans Mono"/>
              </a:rPr>
              <a:t>((((((s0 ^ s1) ^ s2) ^ s3) ^ s4) ^ s5) ^ s6) ^ s7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9971E-A8F9-4E6F-948A-09C0237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571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D7685-605D-4CC8-827F-B5E49DE6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81200"/>
            <a:ext cx="48101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D6E2E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62635"/>
                </a:solidFill>
                <a:latin typeface="DejaVu Sans Mono"/>
                <a:ea typeface="DejaVu Sans Mono"/>
                <a:cs typeface="DejaVu Sans Mono"/>
              </a:rPr>
              <a:t>((s0 ^ s1) ^ (s2 ^ s3)) ^</a:t>
            </a:r>
          </a:p>
          <a:p xmlns:a="http://schemas.openxmlformats.org/drawingml/2006/main">
            <a:pPr algn="ctr">
              <a:defRPr sz="1350" b="0">
                <a:solidFill>
                  <a:srgbClr val="1626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62635"/>
                </a:solidFill>
                <a:latin typeface="DejaVu Sans Mono"/>
                <a:ea typeface="DejaVu Sans Mono"/>
                <a:cs typeface="DejaVu Sans Mono"/>
              </a:rPr>
              <a:t>((s4 ^ s5) ^ (s6 ^ s7))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0D18A-95B6-44F2-8E57-74FE88BB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Only rtl/nebula_aux_domain.v 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88503-4C78-46D5-8FF2-F69458C8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9A"/>
          </a:solidFill>
          <a:ln xmlns:a="http://schemas.openxmlformats.org/drawingml/2006/main" w="9525">
            <a:solidFill>
              <a:srgbClr val="17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4A7B4-335D-4199-9D9D-988AA08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Preserved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A8BCA-1F2D-4E8F-9DE0-E8298828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577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Ports, clocks, reset behavior, CDC logic, state, and cycle latency.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7D90C-0E41-4654-ACAF-0F4BC5B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9525">
            <a:solidFill>
              <a:srgbClr val="20B8C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E496-B3DA-49E8-95A0-1F236714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81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Retained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8FA07-C3DF-4123-8FD8-C0D4B7F2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721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One physical QoR regression was rejected; the accepted result reproduced independently.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477AC-C037-4F56-B3F3-C091377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97791-D235-4B6B-BC9C-72DD5290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9949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FC8EE-3FBE-434C-BA36-92208F3C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FORMAL EQUIVALENCE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75CDC-C04F-4CC5-8A9C-AEA93FB4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Whole-design cycle-exact proof 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B7CC6-5340-47B9-8FDB-2CCAEB9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4EC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CDE4EC"/>
                </a:solidFill>
                <a:latin typeface="Noto Sans"/>
                <a:ea typeface="Noto Sans"/>
                <a:cs typeface="Noto Sans"/>
              </a:rPr>
              <a:t>EQY compared the complete nebula_ethmac5_top hierarchy under the same reset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46FDC-A1AD-40FE-B57F-36A0E884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066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A43"/>
          </a:solidFill>
          <a:ln xmlns:a="http://schemas.openxmlformats.org/drawingml/2006/main" w="9525">
            <a:solidFill>
              <a:srgbClr val="2D60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94FA2-3DE2-42D6-917D-E208245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Successfully proved designs equivalent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CA791-B740-4708-B5C3-CA2FAB30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DONE (PASS, rc=0)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F2B98-BCC0-48BD-92E0-FBEBCCD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E4EC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CDE4EC"/>
                </a:solidFill>
                <a:latin typeface="Noto Sans"/>
                <a:ea typeface="Noto Sans"/>
                <a:cs typeface="Noto Sans"/>
              </a:rPr>
              <a:t>Elapsed clock time: 0:02:20 (140 seconds)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C7052-DC5D-45DC-B192-2DF68B1F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The state machine blocks UNKNOWN and FAIL results from acceptance.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BC77B-883B-46CA-B653-A6F4C9F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EC9D8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9EC9D8"/>
                </a:solidFill>
                <a:latin typeface="Noto Sans"/>
                <a:ea typeface="Noto Sans"/>
                <a:cs typeface="Noto Sans"/>
              </a:rPr>
              <a:t>Full 4,780-line proof log included in 04_PROOFS/formal/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5EE37-0815-4C17-9CAB-29993ADE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C9D8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9EC9D8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3658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D893D-7022-435B-8DCE-24256E0B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MATCHED POST-ROUTE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3B67A-688C-4E72-8DFC-F7CDCD8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Timing improved while area and power decreased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B1C92-428A-4A94-A584-4BC3408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687ee76b6b45a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8A139-FF68-4ACB-8B50-2EE1E3C4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+0.094790 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1C746-24C6-4E99-BE92-C8D0AD2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setup WNS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CC1A0-5156-4DE7-B23F-6002C689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+3.4968 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F7302-3FCC-4298-8006-B68C3163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setup TNS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DB27-A8B1-4F90-97DB-2CB36AE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B9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6B9A"/>
                </a:solidFill>
                <a:latin typeface="Noto Sans"/>
                <a:ea typeface="Noto Sans"/>
                <a:cs typeface="Noto Sans"/>
              </a:rPr>
              <a:t>-100 cells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C858A-8A76-46BB-B238-5B77BC6C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-142 um^2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E8ACD-66FE-4434-8ED6-0C9DA339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B9A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6B9A"/>
                </a:solidFill>
                <a:latin typeface="Noto Sans"/>
                <a:ea typeface="Noto Sans"/>
                <a:cs typeface="Noto Sans"/>
              </a:rPr>
              <a:t>-0.88% 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49F55-6F76-4E78-AD9A-DB8B5866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matched vectorless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71C07-A3A5-432E-9CB1-EDC52E7D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7AB9F-B3C9-4D93-83D6-F0E87C22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4532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7E80B-2FA0-48C0-A1BF-56828483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PHYSICAL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1D110-BE13-4A31-9934-D46C2515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Both designs completed detailed routing cleanly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EEF39-3F00-420D-BECB-8712B5A6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ec01caf184e94"/>
          <a:stretch xmlns:a="http://schemas.openxmlformats.org/drawingml/2006/main"/>
        </p:blipFill>
        <p:spPr>
          <a:xfrm xmlns:a="http://schemas.openxmlformats.org/drawingml/2006/main">
            <a:off x="1166813" y="1476375"/>
            <a:ext cx="4191000" cy="4191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d62c4963a4f46"/>
          <a:stretch xmlns:a="http://schemas.openxmlformats.org/drawingml/2006/main"/>
        </p:blipFill>
        <p:spPr>
          <a:xfrm xmlns:a="http://schemas.openxmlformats.org/drawingml/2006/main">
            <a:off x="6834188" y="1476375"/>
            <a:ext cx="41910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24DBB-E892-4621-BCC9-8ACA5CFA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BASELINE  |  57,608 standard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C2BAA-FBFE-4D2E-8975-DA47497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34050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CANDIDATE  |  57,508 standard 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19C70-0DDE-4A15-B043-1D8754DA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Final route DRC: 0  |  Antenna violations: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3F6B3-79FE-4FD6-BCCB-ED33C586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ACCC6-561D-4565-A472-B905A96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4975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6DF05-CACF-44EB-893D-22486AEB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20B8C5"/>
                </a:solidFill>
                <a:latin typeface="Noto Sans"/>
                <a:ea typeface="Noto Sans"/>
                <a:cs typeface="Noto San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3167-5007-43F9-A250-9BA1E425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Verified optimization with explicit signoff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7DC1F-C7D1-4C43-8DDE-771609AC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0E179-5F37-4B51-BB77-4DAB114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8A70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F8A70"/>
                </a:solidFill>
                <a:latin typeface="Noto Sans"/>
                <a:ea typeface="Noto Sans"/>
                <a:cs typeface="Noto Sans"/>
              </a:rPr>
              <a:t>What is proved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D6797-F4AE-4C84-B51D-3483B2F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5B785-5A0C-41FB-B377-4D6733D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Equivalence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BE199-2C75-452F-8B3D-3C13677F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Complete design, cycle-exact EQY PASS.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E4AF8-9AD3-4338-8E3A-94E27C25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17F22-6AE4-458B-8603-BDA95ACA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Physical QoR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9A4AE-58DC-4674-A99E-632F450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Matched routed WNS, TNS, area, cell count, and power improved.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BCBAD-78A9-4189-8161-4F9703D1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63863-E10A-43B9-86B2-83230CBE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Clean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B911F-BD8D-4367-8CBD-2CFA52A9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Zero final route DRC and zero antenna violations.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E1FCC-89BD-4023-B9E5-E3990DE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C4B51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C4B51"/>
                </a:solidFill>
                <a:latin typeface="Noto Sans"/>
                <a:ea typeface="Noto Sans"/>
                <a:cs typeface="Noto Sans"/>
              </a:rPr>
              <a:t>What remains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49BDF-94F8-4F2E-97A8-715A1207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Setup WNS remains -0.335711 ns. Hold WNS remains -0.00689157 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89997-C02F-4B06-AF71-CD4D18BE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Power uses default vectorless activity. The frequency figure is an estimate, not a sweep.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99358-9367-49A6-8BE2-726C888B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635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62635"/>
                </a:solidFill>
                <a:latin typeface="Noto Sans"/>
                <a:ea typeface="Noto Sans"/>
                <a:cs typeface="Noto Sans"/>
              </a:rPr>
              <a:t>Timing closure, activity-based power, and a frequency sweep remain future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B525E-B4D9-4E56-BEE6-6E80BB8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C2767-EF63-4359-A926-2DB9A8D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1E33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81E33"/>
                </a:solidFill>
                <a:latin typeface="Noto Sans"/>
                <a:ea typeface="Noto Sans"/>
                <a:cs typeface="Noto Sans"/>
              </a:rPr>
              <a:t>Submission package: report + deck + RTL + exact patch + raw proofs + source archive + checksums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F269F-FC00-4898-AABA-6DAA5455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750" b="0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NEBULA  |  FINAL PRESENTATION  |  14 SEPTEMBER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60C02-7E91-483C-B4C5-89340606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defRPr>
            </a:pPr>
            <a:r>
              <a:rPr sz="825" b="1">
                <a:solidFill>
                  <a:srgbClr val="60717D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7603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2026-09-14T16:15:08.8080000Z</dcterms:created>
  <dcterms:modified xsi:type="dcterms:W3CDTF">2026-09-14T16:15:08.8080000Z</dcterms:modified>
</coreProperties>
</file>